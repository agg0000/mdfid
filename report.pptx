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 snapToGrid="0">
      <p:cViewPr>
        <p:scale>
          <a:sx n="100" d="100"/>
          <a:sy n="100" d="100"/>
        </p:scale>
        <p:origin x="91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FFB37-A544-4120-BD3E-75849ED7C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B04133-FBBC-4DA7-9E52-37AD6E4FC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28740-AB35-44F3-8423-62845F451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332696-11CA-4E2B-88DE-49CDD521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6E7A9-E587-45E5-A8C5-434FCEA37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27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63E0F-ABFE-4330-B11A-D914F302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436E8-43A5-4DAE-88AF-BF68F331E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2DBDF-88A1-4854-9039-F1C9B250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11812-BF23-4CF3-B3A1-6A22D991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B68150-FF43-47D3-AB1A-572EFC49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41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26580-CEF1-47D0-A7D2-A7F47ABA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1DE2AF-0F7D-41C7-89A6-9BB773D5D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53056A-090F-431F-9C45-4941071D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78AEF-0A0C-4353-91EC-D1466E9A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CDB631-0F12-4554-B034-E82D21A9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04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3234A-C98E-4574-82BD-4EF453D5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69E5E8-5AF0-490C-84B0-7D9DD49A0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8E8A27-1C40-4E22-BCB1-64104EB24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31D83C-5FE3-41CB-8796-332353E27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776D2C-B082-4075-BF61-1824638E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B29D72-BAE1-47E2-88E3-080BB268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32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4A1DF-0491-4ECE-BDD7-5F2763640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3765BB-E397-4B36-AE83-6621E3198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B943DE-0BDC-45B7-9565-F1ECFEA1E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EE48420-C382-4F3B-AE5D-E125DF7F4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E4BE61-E6DD-473B-90C7-689BF007B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F0A3AF-06DA-44EA-B085-DA4AEB2C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5F2E03-BAEA-4F4B-A824-7CFBE2DB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2398C1-04E6-4893-8C2A-C48C784E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F51EA-EB49-48E6-8366-66DC7E915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8BF1D5-BE26-4AEC-AED7-54CD0BD3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221FA6-FAE9-4A6B-AF3E-6FE79A86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43D0DE-3EC2-4F55-B8DF-C8F20941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29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401AAC-AE38-4E1C-959C-BDF6DCC6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CD0AEC-E0CE-4A45-93A1-55F6B77E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ACA537-65CA-4BC8-91B8-6B26BE08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77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F5600-9E6C-41BB-B3FA-9C36759D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4F8D7-494F-449C-A3D2-235D037DF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438502-6515-498C-AA35-059E40CD0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F111C0-9ADD-4287-9FAC-0358B84F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EAC7A2-D0EC-4967-907F-AE9349620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022B0E-20C1-451A-987B-D4525888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66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378EA-46C9-48FA-ADC2-6547503C9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965042-084E-47E1-8084-1AAC2B26F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9212A5-9D8B-4796-A2D6-C5B0A2268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EEC733-F4F5-4067-86A9-888E000E6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C53366-8165-480A-AED8-223761B0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D2B9BF-998B-4423-AAA2-F1983771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48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04A60-62FF-4050-81AA-9D37E437B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115AFB-767A-4D4F-AD50-1905667C3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806F2E-327A-46FB-AF2A-B9FBC3B8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5C709-7C7D-41C5-AC31-C8D0F9F8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922252-B28D-4BAF-9ECE-2CFF1FD7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462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B94BAC-51A3-4B7D-A875-0248E8223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8F839C-2F1E-49AE-94F7-7480F4F4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FE4F1-5BA4-48ED-AB04-5A5CD3E1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B940B7-3FA8-4BB7-9D69-414D9FE5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03180-E49E-47A4-82DC-5EC2DCA5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4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67F277-DB6F-4728-9427-234C6948C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0F7FE8-B831-4EDE-B5DC-AE7778061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B29955-8E16-4635-A213-AC4806E2C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7CB0F-56F4-47C0-A56D-E0D22462CF7C}" type="datetimeFigureOut">
              <a:rPr lang="zh-CN" altLang="en-US" smtClean="0"/>
              <a:t>2017/10/10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245E20-1B5B-4C11-9869-F56B72DF9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A98841-974B-4B45-8CE2-3E4F00D38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602AE-892C-44DC-A7B6-65A24027E0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4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063EE-BF8A-446E-8BF4-0A7DBFF1C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Polymer Surface Hopping: Incorporating Nuclear Quantum</a:t>
            </a:r>
            <a:b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Effects into Nonadiabatic Molecular Dynamics Simulations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FC7F2C-39DC-4409-946E-9939E583A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Ye infeng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(zongzi)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15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CF7CAEEB-FD76-41BD-98F3-564467C4F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9" y="2035884"/>
            <a:ext cx="6350000" cy="298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E59369F-7DA9-44D4-8114-54080FDDFCBC}"/>
              </a:ext>
            </a:extLst>
          </p:cNvPr>
          <p:cNvSpPr txBox="1"/>
          <p:nvPr/>
        </p:nvSpPr>
        <p:spPr>
          <a:xfrm>
            <a:off x="763480" y="807868"/>
            <a:ext cx="8602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dirty="0"/>
              <a:t>Published in: </a:t>
            </a:r>
            <a:r>
              <a:rPr lang="en-GB" altLang="zh-CN" dirty="0" err="1"/>
              <a:t>Farnaz</a:t>
            </a:r>
            <a:r>
              <a:rPr lang="en-GB" altLang="zh-CN" dirty="0"/>
              <a:t> A. Shakib; </a:t>
            </a:r>
            <a:r>
              <a:rPr lang="en-GB" altLang="zh-CN" dirty="0" err="1"/>
              <a:t>Pengfei</a:t>
            </a:r>
            <a:r>
              <a:rPr lang="en-GB" altLang="zh-CN" dirty="0"/>
              <a:t> </a:t>
            </a:r>
            <a:r>
              <a:rPr lang="en-GB" altLang="zh-CN" dirty="0" err="1"/>
              <a:t>Huo</a:t>
            </a:r>
            <a:r>
              <a:rPr lang="en-GB" altLang="zh-CN" dirty="0"/>
              <a:t>; </a:t>
            </a:r>
            <a:r>
              <a:rPr lang="en-GB" altLang="zh-CN" i="1" dirty="0"/>
              <a:t>J. Phys. Chem. Lett.</a:t>
            </a:r>
            <a:r>
              <a:rPr lang="en-GB" altLang="zh-CN" dirty="0"/>
              <a:t> </a:t>
            </a:r>
            <a:r>
              <a:rPr lang="en-GB" altLang="zh-CN" b="1" dirty="0"/>
              <a:t> 2017, </a:t>
            </a:r>
            <a:r>
              <a:rPr lang="en-GB" altLang="zh-CN" dirty="0"/>
              <a:t>8, 3073-3080.</a:t>
            </a:r>
          </a:p>
          <a:p>
            <a:r>
              <a:rPr lang="en-GB" altLang="zh-CN" dirty="0"/>
              <a:t>DOI: 10.1021/acs.jpclett.7b01343</a:t>
            </a:r>
          </a:p>
        </p:txBody>
      </p:sp>
    </p:spTree>
    <p:extLst>
      <p:ext uri="{BB962C8B-B14F-4D97-AF65-F5344CB8AC3E}">
        <p14:creationId xmlns:p14="http://schemas.microsoft.com/office/powerpoint/2010/main" val="389537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6753C-D46C-42FB-BA7F-3FA981E8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is the original about it?</a:t>
            </a:r>
            <a:endParaRPr lang="zh-CN" alt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A2AAAF8-2093-404D-9DE9-DC3D19474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238" y="2141753"/>
            <a:ext cx="6350000" cy="317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882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88166" y="1525424"/>
            <a:ext cx="99453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What is nonadiabatic dynamics</a:t>
            </a:r>
            <a:endParaRPr lang="zh-CN" altLang="en-US" sz="5400" b="1" cap="none" spc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8166" y="1602368"/>
            <a:ext cx="97449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/>
              <a:t>Let us begin from adiabatic dynamics</a:t>
            </a:r>
            <a:endParaRPr lang="zh-CN" altLang="en-US" sz="4400" b="1"/>
          </a:p>
        </p:txBody>
      </p:sp>
      <p:sp>
        <p:nvSpPr>
          <p:cNvPr id="9" name="文本框 8"/>
          <p:cNvSpPr txBox="1"/>
          <p:nvPr/>
        </p:nvSpPr>
        <p:spPr>
          <a:xfrm>
            <a:off x="3657601" y="3057463"/>
            <a:ext cx="60740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1.Molecular Mechanics</a:t>
            </a:r>
          </a:p>
          <a:p>
            <a:endParaRPr lang="en-US" altLang="zh-CN" sz="2400" b="1"/>
          </a:p>
          <a:p>
            <a:r>
              <a:rPr lang="en-US" altLang="zh-CN" sz="2400" b="1"/>
              <a:t>2. Semi-classical/mixed classical-quantum</a:t>
            </a:r>
          </a:p>
          <a:p>
            <a:endParaRPr lang="en-US" altLang="zh-CN" sz="2400" b="1"/>
          </a:p>
          <a:p>
            <a:r>
              <a:rPr lang="en-US" altLang="zh-CN" sz="2400" b="1"/>
              <a:t>3. Quantum reaction dynamics </a:t>
            </a: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156068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1410255" y="1934160"/>
          <a:ext cx="6550014" cy="307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3" imgW="3085920" imgH="1447560" progId="Equation.DSMT4">
                  <p:embed/>
                </p:oleObj>
              </mc:Choice>
              <mc:Fallback>
                <p:oleObj name="Equation" r:id="rId3" imgW="3085920" imgH="144756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0255" y="1934160"/>
                        <a:ext cx="6550014" cy="3072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12055" y="1322773"/>
            <a:ext cx="7266733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The basis theory of Quantum Chemistry:</a:t>
            </a:r>
          </a:p>
          <a:p>
            <a:endParaRPr lang="en-US" altLang="zh-CN" sz="2400" b="1"/>
          </a:p>
          <a:p>
            <a:r>
              <a:rPr lang="en-US" altLang="zh-CN"/>
              <a:t>	</a:t>
            </a:r>
          </a:p>
          <a:p>
            <a:r>
              <a:rPr lang="en-US" altLang="zh-CN" sz="2000"/>
              <a:t>	Self-consistent field theory</a:t>
            </a:r>
          </a:p>
          <a:p>
            <a:endParaRPr lang="en-US" altLang="zh-CN" sz="2000"/>
          </a:p>
          <a:p>
            <a:r>
              <a:rPr lang="en-US" altLang="zh-CN" sz="2000"/>
              <a:t>	</a:t>
            </a:r>
          </a:p>
          <a:p>
            <a:r>
              <a:rPr lang="en-US" altLang="zh-CN" sz="2000"/>
              <a:t>	Born-Oppenheimer approximation </a:t>
            </a:r>
            <a:r>
              <a:rPr lang="en-US" altLang="zh-CN" sz="1600"/>
              <a:t>(adiabatic approximation)</a:t>
            </a:r>
            <a:endParaRPr lang="zh-CN" altLang="en-US" sz="1600"/>
          </a:p>
        </p:txBody>
      </p:sp>
      <p:cxnSp>
        <p:nvCxnSpPr>
          <p:cNvPr id="9" name="直接连接符 8"/>
          <p:cNvCxnSpPr/>
          <p:nvPr/>
        </p:nvCxnSpPr>
        <p:spPr>
          <a:xfrm>
            <a:off x="5921406" y="3604334"/>
            <a:ext cx="21750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26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892136" y="1122363"/>
            <a:ext cx="63866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/>
              <a:t>Born-Oppenheimer approximation:</a:t>
            </a:r>
          </a:p>
          <a:p>
            <a:r>
              <a:rPr lang="en-US" altLang="zh-CN" sz="2400" b="1"/>
              <a:t>    </a:t>
            </a:r>
          </a:p>
          <a:p>
            <a:r>
              <a:rPr lang="en-US" altLang="zh-CN" sz="2400" b="1"/>
              <a:t>	</a:t>
            </a:r>
            <a:r>
              <a:rPr lang="en-US" altLang="zh-CN"/>
              <a:t>Nucleus motion on the potential energy surface (PES)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023" y="2459113"/>
            <a:ext cx="3934909" cy="325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5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2136" y="1122363"/>
            <a:ext cx="1351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particula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512381" y="1153141"/>
            <a:ext cx="3409025" cy="3551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21258" y="1153141"/>
            <a:ext cx="339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Electron run slower than nucleus</a:t>
            </a:r>
            <a:endParaRPr lang="zh-CN" altLang="en-US"/>
          </a:p>
        </p:txBody>
      </p:sp>
      <p:sp>
        <p:nvSpPr>
          <p:cNvPr id="9" name="下箭头 8"/>
          <p:cNvSpPr/>
          <p:nvPr/>
        </p:nvSpPr>
        <p:spPr>
          <a:xfrm>
            <a:off x="3977195" y="1681741"/>
            <a:ext cx="479395" cy="630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AutoShape 1"/>
          <p:cNvSpPr>
            <a:spLocks noChangeArrowheads="1"/>
          </p:cNvSpPr>
          <p:nvPr/>
        </p:nvSpPr>
        <p:spPr bwMode="auto">
          <a:xfrm>
            <a:off x="7112864" y="4902353"/>
            <a:ext cx="4742937" cy="433068"/>
          </a:xfrm>
          <a:custGeom>
            <a:avLst/>
            <a:gdLst/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100" i="1" baseline="-25000" dirty="0"/>
              <a:t>Schematic comparison of motion governed by two potential energy surfaces (black curves). </a:t>
            </a:r>
          </a:p>
          <a:p>
            <a:r>
              <a:rPr lang="en-US" altLang="zh-CN" sz="1100" i="1" baseline="-25000" dirty="0"/>
              <a:t>Green: self consistent field methods (e.g., time dependent </a:t>
            </a:r>
            <a:r>
              <a:rPr lang="en-US" altLang="zh-CN" sz="1100" i="1" baseline="-25000" dirty="0" err="1"/>
              <a:t>Hartree</a:t>
            </a:r>
            <a:r>
              <a:rPr lang="en-US" altLang="zh-CN" sz="1100" i="1" baseline="-25000" dirty="0"/>
              <a:t>, </a:t>
            </a:r>
            <a:r>
              <a:rPr lang="en-US" altLang="zh-CN" sz="1100" i="1" baseline="-25000" dirty="0" err="1"/>
              <a:t>Ehrenfest</a:t>
            </a:r>
            <a:r>
              <a:rPr lang="en-US" altLang="zh-CN" sz="1100" i="1" baseline="-25000" dirty="0"/>
              <a:t>). </a:t>
            </a:r>
          </a:p>
          <a:p>
            <a:r>
              <a:rPr lang="en-US" altLang="zh-CN" sz="1100" i="1" baseline="-25000" dirty="0"/>
              <a:t>Red: bifurcating paths with entanglement (e.g., multi configuration time dependent </a:t>
            </a:r>
            <a:r>
              <a:rPr lang="en-US" altLang="zh-CN" sz="1100" i="1" baseline="-25000" dirty="0" err="1"/>
              <a:t>Hartree</a:t>
            </a:r>
            <a:r>
              <a:rPr lang="en-US" altLang="zh-CN" sz="1100" i="1" baseline="-25000" dirty="0"/>
              <a:t>, surface hopping).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746" y="839936"/>
            <a:ext cx="4829175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圆角矩形 10"/>
          <p:cNvSpPr/>
          <p:nvPr/>
        </p:nvSpPr>
        <p:spPr>
          <a:xfrm>
            <a:off x="1496738" y="4329934"/>
            <a:ext cx="5917037" cy="379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502230" y="4329934"/>
            <a:ext cx="5907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Nucleus motion on the differenct potential energy surface</a:t>
            </a:r>
            <a:endParaRPr lang="zh-CN" altLang="en-US"/>
          </a:p>
        </p:txBody>
      </p:sp>
      <p:sp>
        <p:nvSpPr>
          <p:cNvPr id="15" name="十二角星 14"/>
          <p:cNvSpPr/>
          <p:nvPr/>
        </p:nvSpPr>
        <p:spPr>
          <a:xfrm>
            <a:off x="2854170" y="2447496"/>
            <a:ext cx="2725444" cy="789582"/>
          </a:xfrm>
          <a:prstGeom prst="star1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534654" y="2657621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B-O broken</a:t>
            </a:r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3976528" y="3447203"/>
            <a:ext cx="479395" cy="6303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肘形连接符 2"/>
          <p:cNvCxnSpPr/>
          <p:nvPr/>
        </p:nvCxnSpPr>
        <p:spPr>
          <a:xfrm rot="10800000" flipV="1">
            <a:off x="5918343" y="5143500"/>
            <a:ext cx="1263693" cy="7779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12"/>
          <p:cNvCxnSpPr/>
          <p:nvPr/>
        </p:nvCxnSpPr>
        <p:spPr>
          <a:xfrm rot="16200000" flipH="1">
            <a:off x="7195351" y="5375429"/>
            <a:ext cx="1029810" cy="8078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3849002" y="5752130"/>
            <a:ext cx="2100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Mean-field(Ehrenfest)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422388" y="6300063"/>
            <a:ext cx="16321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Surface hopping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9294920" y="6000750"/>
            <a:ext cx="2604001" cy="3822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303798" y="6000750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Mixed classical-quantum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54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9" grpId="0" animBg="1"/>
      <p:bldP spid="17" grpId="0"/>
      <p:bldP spid="11" grpId="0" animBg="1"/>
      <p:bldP spid="10" grpId="0"/>
      <p:bldP spid="15" grpId="0" animBg="1"/>
      <p:bldP spid="14" grpId="0"/>
      <p:bldP spid="16" grpId="0" animBg="1"/>
      <p:bldP spid="20" grpId="0"/>
      <p:bldP spid="22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013438" y="2206869"/>
            <a:ext cx="2101362" cy="3692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013438" y="2215662"/>
            <a:ext cx="21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Classical subsystem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151077" y="2206869"/>
            <a:ext cx="2101362" cy="3692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151077" y="2215662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Quantum subsystem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左右箭头 13"/>
          <p:cNvSpPr/>
          <p:nvPr/>
        </p:nvSpPr>
        <p:spPr>
          <a:xfrm>
            <a:off x="4404691" y="2017862"/>
            <a:ext cx="2452791" cy="76493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747671" y="2215662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self-consistency</a:t>
            </a:r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>
            <a:off x="3907542" y="3568824"/>
            <a:ext cx="497149" cy="861133"/>
          </a:xfrm>
          <a:prstGeom prst="lef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404691" y="3378138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Quantum treatment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04691" y="4251311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Equilibrium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5" grpId="0" animBg="1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971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161</Words>
  <Application>Microsoft Office PowerPoint</Application>
  <PresentationFormat>宽屏</PresentationFormat>
  <Paragraphs>38</Paragraphs>
  <Slides>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ＭＳ Ｐゴシック</vt:lpstr>
      <vt:lpstr>等线</vt:lpstr>
      <vt:lpstr>等线 Light</vt:lpstr>
      <vt:lpstr>Arial</vt:lpstr>
      <vt:lpstr>Arial</vt:lpstr>
      <vt:lpstr>Times New Roman</vt:lpstr>
      <vt:lpstr>Office 主题​​</vt:lpstr>
      <vt:lpstr>Equation</vt:lpstr>
      <vt:lpstr>Ring Polymer Surface Hopping: Incorporating Nuclear Quantum Effects into Nonadiabatic Molecular Dynamics Simulations</vt:lpstr>
      <vt:lpstr>PowerPoint 演示文稿</vt:lpstr>
      <vt:lpstr>What is the original about it?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Ring Polymer Surface Hopping: Incorporating Nuclear Quantum Effects into Nonadiabatic Molecular Dynamics Simulations</dc:title>
  <dc:creator>linfeng ye</dc:creator>
  <cp:lastModifiedBy>linfeng ye</cp:lastModifiedBy>
  <cp:revision>5</cp:revision>
  <dcterms:created xsi:type="dcterms:W3CDTF">2017-10-10T15:15:11Z</dcterms:created>
  <dcterms:modified xsi:type="dcterms:W3CDTF">2017-10-11T03:36:11Z</dcterms:modified>
</cp:coreProperties>
</file>